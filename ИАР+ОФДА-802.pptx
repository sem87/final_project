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72" r:id="rId3"/>
    <p:sldId id="257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58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 SemiBold" panose="020B0604020202020204" charset="-52"/>
      <p:regular r:id="rId22"/>
      <p:bold r:id="rId23"/>
      <p:italic r:id="rId24"/>
      <p:boldItalic r:id="rId25"/>
    </p:embeddedFont>
    <p:embeddedFont>
      <p:font typeface="Montserrat Medium" panose="020B0604020202020204" charset="-52"/>
      <p:regular r:id="rId26"/>
      <p:bold r:id="rId27"/>
      <p:italic r:id="rId28"/>
      <p:boldItalic r:id="rId29"/>
    </p:embeddedFont>
    <p:embeddedFont>
      <p:font typeface="Montserrat" panose="020B0604020202020204" charset="-52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988">
          <p15:clr>
            <a:srgbClr val="A4A3A4"/>
          </p15:clr>
        </p15:guide>
        <p15:guide id="2" pos="454">
          <p15:clr>
            <a:srgbClr val="9AA0A6"/>
          </p15:clr>
        </p15:guide>
        <p15:guide id="3" orient="horz" pos="425">
          <p15:clr>
            <a:srgbClr val="9AA0A6"/>
          </p15:clr>
        </p15:guide>
        <p15:guide id="4" orient="horz" pos="3895">
          <p15:clr>
            <a:srgbClr val="9AA0A6"/>
          </p15:clr>
        </p15:guide>
        <p15:guide id="5" pos="7226">
          <p15:clr>
            <a:srgbClr val="9AA0A6"/>
          </p15:clr>
        </p15:guide>
        <p15:guide id="6" pos="2721">
          <p15:clr>
            <a:srgbClr val="9AA0A6"/>
          </p15:clr>
        </p15:guide>
        <p15:guide id="7" pos="3840">
          <p15:clr>
            <a:srgbClr val="9AA0A6"/>
          </p15:clr>
        </p15:guide>
        <p15:guide id="8" orient="horz" pos="43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966D"/>
    <a:srgbClr val="E3F9FE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216"/>
      </p:cViewPr>
      <p:guideLst>
        <p:guide pos="4988"/>
        <p:guide pos="454"/>
        <p:guide orient="horz" pos="425"/>
        <p:guide orient="horz" pos="3895"/>
        <p:guide pos="7226"/>
        <p:guide pos="2721"/>
        <p:guide pos="384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ACD4C1-1826-426A-AD09-F6FD26F46486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132B343-804B-4B09-ADE5-525328B43D5B}">
      <dgm:prSet/>
      <dgm:spPr/>
      <dgm:t>
        <a:bodyPr/>
        <a:lstStyle/>
        <a:p>
          <a:pPr rtl="0"/>
          <a:r>
            <a:rPr lang="ru-RU" b="1" i="0" smtClean="0"/>
            <a:t>Приступаем к исследованию данных</a:t>
          </a:r>
          <a:endParaRPr lang="ru-RU"/>
        </a:p>
      </dgm:t>
    </dgm:pt>
    <dgm:pt modelId="{677740A1-DE86-42E2-AA29-6425DEB4B911}" type="parTrans" cxnId="{FAA978AE-FC53-4111-9252-B866DA5AEB43}">
      <dgm:prSet/>
      <dgm:spPr/>
      <dgm:t>
        <a:bodyPr/>
        <a:lstStyle/>
        <a:p>
          <a:endParaRPr lang="ru-RU"/>
        </a:p>
      </dgm:t>
    </dgm:pt>
    <dgm:pt modelId="{63FFEE2B-1B0A-483C-95DC-D23569B6D76C}" type="sibTrans" cxnId="{FAA978AE-FC53-4111-9252-B866DA5AEB43}">
      <dgm:prSet/>
      <dgm:spPr/>
      <dgm:t>
        <a:bodyPr/>
        <a:lstStyle/>
        <a:p>
          <a:endParaRPr lang="ru-RU"/>
        </a:p>
      </dgm:t>
    </dgm:pt>
    <dgm:pt modelId="{31784502-ECA8-45DD-9296-6419D6A48EC4}" type="pres">
      <dgm:prSet presAssocID="{FEACD4C1-1826-426A-AD09-F6FD26F46486}" presName="compositeShape" presStyleCnt="0">
        <dgm:presLayoutVars>
          <dgm:dir/>
          <dgm:resizeHandles/>
        </dgm:presLayoutVars>
      </dgm:prSet>
      <dgm:spPr/>
    </dgm:pt>
    <dgm:pt modelId="{79086991-0933-40EC-A823-768C804F1D6F}" type="pres">
      <dgm:prSet presAssocID="{FEACD4C1-1826-426A-AD09-F6FD26F46486}" presName="pyramid" presStyleLbl="node1" presStyleIdx="0" presStyleCnt="1"/>
      <dgm:spPr/>
    </dgm:pt>
    <dgm:pt modelId="{E95B0939-54A5-4EC3-B379-52C366560CC8}" type="pres">
      <dgm:prSet presAssocID="{FEACD4C1-1826-426A-AD09-F6FD26F46486}" presName="theList" presStyleCnt="0"/>
      <dgm:spPr/>
    </dgm:pt>
    <dgm:pt modelId="{2CB360BC-99C1-4DE6-8C8D-663C0EA03366}" type="pres">
      <dgm:prSet presAssocID="{C132B343-804B-4B09-ADE5-525328B43D5B}" presName="aNode" presStyleLbl="fgAcc1" presStyleIdx="0" presStyleCnt="1">
        <dgm:presLayoutVars>
          <dgm:bulletEnabled val="1"/>
        </dgm:presLayoutVars>
      </dgm:prSet>
      <dgm:spPr/>
    </dgm:pt>
    <dgm:pt modelId="{90C19EE0-2DC5-4A84-AB7E-DD9E00C7645D}" type="pres">
      <dgm:prSet presAssocID="{C132B343-804B-4B09-ADE5-525328B43D5B}" presName="aSpace" presStyleCnt="0"/>
      <dgm:spPr/>
    </dgm:pt>
  </dgm:ptLst>
  <dgm:cxnLst>
    <dgm:cxn modelId="{FAA978AE-FC53-4111-9252-B866DA5AEB43}" srcId="{FEACD4C1-1826-426A-AD09-F6FD26F46486}" destId="{C132B343-804B-4B09-ADE5-525328B43D5B}" srcOrd="0" destOrd="0" parTransId="{677740A1-DE86-42E2-AA29-6425DEB4B911}" sibTransId="{63FFEE2B-1B0A-483C-95DC-D23569B6D76C}"/>
    <dgm:cxn modelId="{E20F0AEF-8AB5-4229-8764-1015D269D40F}" type="presOf" srcId="{C132B343-804B-4B09-ADE5-525328B43D5B}" destId="{2CB360BC-99C1-4DE6-8C8D-663C0EA03366}" srcOrd="0" destOrd="0" presId="urn:microsoft.com/office/officeart/2005/8/layout/pyramid2"/>
    <dgm:cxn modelId="{726BC699-431A-4420-94F4-31577EC7FFB1}" type="presOf" srcId="{FEACD4C1-1826-426A-AD09-F6FD26F46486}" destId="{31784502-ECA8-45DD-9296-6419D6A48EC4}" srcOrd="0" destOrd="0" presId="urn:microsoft.com/office/officeart/2005/8/layout/pyramid2"/>
    <dgm:cxn modelId="{471FA175-07B5-4C43-96F0-B82F56B4D1D1}" type="presParOf" srcId="{31784502-ECA8-45DD-9296-6419D6A48EC4}" destId="{79086991-0933-40EC-A823-768C804F1D6F}" srcOrd="0" destOrd="0" presId="urn:microsoft.com/office/officeart/2005/8/layout/pyramid2"/>
    <dgm:cxn modelId="{6E887F5C-FD59-4BD5-9D70-5EA0CDF9AF7A}" type="presParOf" srcId="{31784502-ECA8-45DD-9296-6419D6A48EC4}" destId="{E95B0939-54A5-4EC3-B379-52C366560CC8}" srcOrd="1" destOrd="0" presId="urn:microsoft.com/office/officeart/2005/8/layout/pyramid2"/>
    <dgm:cxn modelId="{2937B4C2-F9C7-48A7-8B35-55644D95D576}" type="presParOf" srcId="{E95B0939-54A5-4EC3-B379-52C366560CC8}" destId="{2CB360BC-99C1-4DE6-8C8D-663C0EA03366}" srcOrd="0" destOrd="0" presId="urn:microsoft.com/office/officeart/2005/8/layout/pyramid2"/>
    <dgm:cxn modelId="{67EBF651-C3DC-4B5A-A1C1-F63B1885BBD3}" type="presParOf" srcId="{E95B0939-54A5-4EC3-B379-52C366560CC8}" destId="{90C19EE0-2DC5-4A84-AB7E-DD9E00C7645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933C2C-FB26-41BD-8A2D-8A89335162F2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C2B3C8-F10B-4F36-B98D-0DCFA42F61B3}">
      <dgm:prSet/>
      <dgm:spPr/>
      <dgm:t>
        <a:bodyPr/>
        <a:lstStyle/>
        <a:p>
          <a:pPr rtl="0"/>
          <a:r>
            <a:rPr lang="ru-RU" b="0" i="0" dirty="0" smtClean="0"/>
            <a:t>Загрузим таблицу из </a:t>
          </a:r>
          <a:r>
            <a:rPr lang="en-US" b="0" i="0" dirty="0" smtClean="0"/>
            <a:t>CSV-</a:t>
          </a:r>
          <a:r>
            <a:rPr lang="ru-RU" b="0" i="0" dirty="0" smtClean="0"/>
            <a:t>файла</a:t>
          </a:r>
          <a:endParaRPr lang="ru-RU" dirty="0"/>
        </a:p>
      </dgm:t>
    </dgm:pt>
    <dgm:pt modelId="{9543975D-0F83-421A-8294-8902AADFE0CA}" type="parTrans" cxnId="{F4B9486D-022F-4EB3-8827-496824F54438}">
      <dgm:prSet/>
      <dgm:spPr/>
      <dgm:t>
        <a:bodyPr/>
        <a:lstStyle/>
        <a:p>
          <a:endParaRPr lang="ru-RU"/>
        </a:p>
      </dgm:t>
    </dgm:pt>
    <dgm:pt modelId="{EF68564A-BC4E-4FD3-BC41-3AEFD5A6982A}" type="sibTrans" cxnId="{F4B9486D-022F-4EB3-8827-496824F54438}">
      <dgm:prSet/>
      <dgm:spPr/>
      <dgm:t>
        <a:bodyPr/>
        <a:lstStyle/>
        <a:p>
          <a:endParaRPr lang="ru-RU"/>
        </a:p>
      </dgm:t>
    </dgm:pt>
    <dgm:pt modelId="{061C86AE-C587-44F2-AFD8-3437930F9B9A}">
      <dgm:prSet/>
      <dgm:spPr/>
      <dgm:t>
        <a:bodyPr/>
        <a:lstStyle/>
        <a:p>
          <a:r>
            <a:rPr lang="ru-RU" b="0" i="0" dirty="0" smtClean="0"/>
            <a:t>Установим нужные библиотеки</a:t>
          </a:r>
          <a:endParaRPr lang="ru-RU" dirty="0"/>
        </a:p>
      </dgm:t>
    </dgm:pt>
    <dgm:pt modelId="{376C9C0C-7713-4E07-BBC9-F686B44E22D8}" type="parTrans" cxnId="{57F1B02E-4308-468A-85D1-89DBC2C8270A}">
      <dgm:prSet/>
      <dgm:spPr/>
      <dgm:t>
        <a:bodyPr/>
        <a:lstStyle/>
        <a:p>
          <a:endParaRPr lang="ru-RU"/>
        </a:p>
      </dgm:t>
    </dgm:pt>
    <dgm:pt modelId="{506A0550-3622-46B8-84D0-506EC6C529CF}" type="sibTrans" cxnId="{57F1B02E-4308-468A-85D1-89DBC2C8270A}">
      <dgm:prSet/>
      <dgm:spPr/>
      <dgm:t>
        <a:bodyPr/>
        <a:lstStyle/>
        <a:p>
          <a:endParaRPr lang="ru-RU"/>
        </a:p>
      </dgm:t>
    </dgm:pt>
    <dgm:pt modelId="{1B3B7003-A8C8-4897-97F7-22BCDD71A3E6}">
      <dgm:prSet/>
      <dgm:spPr/>
      <dgm:t>
        <a:bodyPr/>
        <a:lstStyle/>
        <a:p>
          <a:r>
            <a:rPr lang="ru-RU" dirty="0" smtClean="0"/>
            <a:t>Не будем спешить ,а внимательно изучим все данные с которыми предстоит работать</a:t>
          </a:r>
          <a:endParaRPr lang="ru-RU" dirty="0"/>
        </a:p>
      </dgm:t>
    </dgm:pt>
    <dgm:pt modelId="{09A22B67-086F-4FD7-A56E-23DD641163D6}" type="parTrans" cxnId="{855614BA-8C8E-4690-851B-F1B577F59708}">
      <dgm:prSet/>
      <dgm:spPr/>
      <dgm:t>
        <a:bodyPr/>
        <a:lstStyle/>
        <a:p>
          <a:endParaRPr lang="ru-RU"/>
        </a:p>
      </dgm:t>
    </dgm:pt>
    <dgm:pt modelId="{8C2C5133-AB18-4A7C-BA91-CD45EBF873BD}" type="sibTrans" cxnId="{855614BA-8C8E-4690-851B-F1B577F59708}">
      <dgm:prSet/>
      <dgm:spPr/>
      <dgm:t>
        <a:bodyPr/>
        <a:lstStyle/>
        <a:p>
          <a:endParaRPr lang="ru-RU"/>
        </a:p>
      </dgm:t>
    </dgm:pt>
    <dgm:pt modelId="{339E40E6-EEBF-4076-B4BE-44804C1ABFC3}">
      <dgm:prSet/>
      <dgm:spPr/>
      <dgm:t>
        <a:bodyPr/>
        <a:lstStyle/>
        <a:p>
          <a:r>
            <a:rPr lang="ru-RU" dirty="0" smtClean="0"/>
            <a:t>В ходе изучения данных  в </a:t>
          </a:r>
          <a:r>
            <a:rPr lang="ru-RU" b="0" i="0" dirty="0" smtClean="0"/>
            <a:t>'</a:t>
          </a:r>
          <a:r>
            <a:rPr lang="ru-RU" b="0" i="0" dirty="0" err="1" smtClean="0"/>
            <a:t>Tenure</a:t>
          </a:r>
          <a:r>
            <a:rPr lang="ru-RU" b="0" i="0" dirty="0" smtClean="0"/>
            <a:t>' заменим </a:t>
          </a:r>
          <a:r>
            <a:rPr lang="ru-RU" b="0" i="0" dirty="0" err="1" smtClean="0"/>
            <a:t>NaN</a:t>
          </a:r>
          <a:r>
            <a:rPr lang="ru-RU" b="0" i="0" dirty="0" smtClean="0"/>
            <a:t> на 0</a:t>
          </a:r>
          <a:endParaRPr lang="ru-RU" dirty="0"/>
        </a:p>
      </dgm:t>
    </dgm:pt>
    <dgm:pt modelId="{193360F2-D92F-46E6-88E2-CBAD95A54007}" type="parTrans" cxnId="{8158C42C-9E2F-47A2-8203-0C290ABB3480}">
      <dgm:prSet/>
      <dgm:spPr/>
      <dgm:t>
        <a:bodyPr/>
        <a:lstStyle/>
        <a:p>
          <a:endParaRPr lang="ru-RU"/>
        </a:p>
      </dgm:t>
    </dgm:pt>
    <dgm:pt modelId="{FF49DCA0-858F-4876-9DE1-1D4413193DE8}" type="sibTrans" cxnId="{8158C42C-9E2F-47A2-8203-0C290ABB3480}">
      <dgm:prSet/>
      <dgm:spPr/>
      <dgm:t>
        <a:bodyPr/>
        <a:lstStyle/>
        <a:p>
          <a:endParaRPr lang="ru-RU"/>
        </a:p>
      </dgm:t>
    </dgm:pt>
    <dgm:pt modelId="{2C04858A-2C0D-490A-9BB4-FE6173F5AF2D}">
      <dgm:prSet/>
      <dgm:spPr/>
      <dgm:t>
        <a:bodyPr/>
        <a:lstStyle/>
        <a:p>
          <a:r>
            <a:rPr lang="ru-RU" dirty="0" smtClean="0"/>
            <a:t>Дата фрейм назовем </a:t>
          </a:r>
          <a:r>
            <a:rPr lang="en-US" dirty="0" smtClean="0"/>
            <a:t>df2</a:t>
          </a:r>
          <a:endParaRPr lang="ru-RU" dirty="0"/>
        </a:p>
      </dgm:t>
    </dgm:pt>
    <dgm:pt modelId="{359638E2-0C36-4236-BDBB-8E5536BCDF0C}" type="parTrans" cxnId="{9B7A8E19-9771-49A0-9D2C-2B08DD01B2F1}">
      <dgm:prSet/>
      <dgm:spPr/>
      <dgm:t>
        <a:bodyPr/>
        <a:lstStyle/>
        <a:p>
          <a:endParaRPr lang="ru-RU"/>
        </a:p>
      </dgm:t>
    </dgm:pt>
    <dgm:pt modelId="{DD33A7AE-B9B3-4DF1-81BF-72BB275A69DA}" type="sibTrans" cxnId="{9B7A8E19-9771-49A0-9D2C-2B08DD01B2F1}">
      <dgm:prSet/>
      <dgm:spPr/>
      <dgm:t>
        <a:bodyPr/>
        <a:lstStyle/>
        <a:p>
          <a:endParaRPr lang="ru-RU"/>
        </a:p>
      </dgm:t>
    </dgm:pt>
    <dgm:pt modelId="{9A6B4E5A-C1D7-41B7-A048-48B4D2942ABA}" type="pres">
      <dgm:prSet presAssocID="{FB933C2C-FB26-41BD-8A2D-8A89335162F2}" presName="Name0" presStyleCnt="0">
        <dgm:presLayoutVars>
          <dgm:dir/>
          <dgm:animLvl val="lvl"/>
          <dgm:resizeHandles val="exact"/>
        </dgm:presLayoutVars>
      </dgm:prSet>
      <dgm:spPr/>
    </dgm:pt>
    <dgm:pt modelId="{B8EA0BCF-8684-4A98-8755-E16BF2CF8A8C}" type="pres">
      <dgm:prSet presAssocID="{E6C2B3C8-F10B-4F36-B98D-0DCFA42F61B3}" presName="linNode" presStyleCnt="0"/>
      <dgm:spPr/>
    </dgm:pt>
    <dgm:pt modelId="{A6414F02-FF62-45D2-97BC-B22415F7B3CD}" type="pres">
      <dgm:prSet presAssocID="{E6C2B3C8-F10B-4F36-B98D-0DCFA42F61B3}" presName="parentText" presStyleLbl="node1" presStyleIdx="0" presStyleCnt="5" custScaleX="229427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9AF2E0-42A3-4201-80E7-EBD239CB8B36}" type="pres">
      <dgm:prSet presAssocID="{EF68564A-BC4E-4FD3-BC41-3AEFD5A6982A}" presName="sp" presStyleCnt="0"/>
      <dgm:spPr/>
    </dgm:pt>
    <dgm:pt modelId="{F0FF5EA9-B7D9-45BC-9CBC-62BDDBD64AC9}" type="pres">
      <dgm:prSet presAssocID="{061C86AE-C587-44F2-AFD8-3437930F9B9A}" presName="linNode" presStyleCnt="0"/>
      <dgm:spPr/>
    </dgm:pt>
    <dgm:pt modelId="{0345BE50-5E09-45A7-A3B9-724D9931F33F}" type="pres">
      <dgm:prSet presAssocID="{061C86AE-C587-44F2-AFD8-3437930F9B9A}" presName="parentText" presStyleLbl="node1" presStyleIdx="1" presStyleCnt="5" custScaleX="23372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B64808-5A36-4437-8A87-CDC1845D0EA1}" type="pres">
      <dgm:prSet presAssocID="{506A0550-3622-46B8-84D0-506EC6C529CF}" presName="sp" presStyleCnt="0"/>
      <dgm:spPr/>
    </dgm:pt>
    <dgm:pt modelId="{18A9BCE9-2FB0-46B6-9B09-9614A79B15D2}" type="pres">
      <dgm:prSet presAssocID="{1B3B7003-A8C8-4897-97F7-22BCDD71A3E6}" presName="linNode" presStyleCnt="0"/>
      <dgm:spPr/>
    </dgm:pt>
    <dgm:pt modelId="{D278BCE4-C36F-4DDF-9048-C0B1BF325356}" type="pres">
      <dgm:prSet presAssocID="{1B3B7003-A8C8-4897-97F7-22BCDD71A3E6}" presName="parentText" presStyleLbl="node1" presStyleIdx="2" presStyleCnt="5" custScaleX="235741" custScaleY="92380">
        <dgm:presLayoutVars>
          <dgm:chMax val="1"/>
          <dgm:bulletEnabled val="1"/>
        </dgm:presLayoutVars>
      </dgm:prSet>
      <dgm:spPr/>
    </dgm:pt>
    <dgm:pt modelId="{642A951E-4156-4478-BC45-B515961DA1EC}" type="pres">
      <dgm:prSet presAssocID="{8C2C5133-AB18-4A7C-BA91-CD45EBF873BD}" presName="sp" presStyleCnt="0"/>
      <dgm:spPr/>
    </dgm:pt>
    <dgm:pt modelId="{0B8F5BC8-2920-4FB2-A0EC-BC77C142EDAA}" type="pres">
      <dgm:prSet presAssocID="{339E40E6-EEBF-4076-B4BE-44804C1ABFC3}" presName="linNode" presStyleCnt="0"/>
      <dgm:spPr/>
    </dgm:pt>
    <dgm:pt modelId="{4AE9F2D4-9DB4-4430-833C-B890CDA000AF}" type="pres">
      <dgm:prSet presAssocID="{339E40E6-EEBF-4076-B4BE-44804C1ABFC3}" presName="parentText" presStyleLbl="node1" presStyleIdx="3" presStyleCnt="5" custScaleX="23427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609AFF-6972-4268-9A15-A3724800DEAF}" type="pres">
      <dgm:prSet presAssocID="{FF49DCA0-858F-4876-9DE1-1D4413193DE8}" presName="sp" presStyleCnt="0"/>
      <dgm:spPr/>
    </dgm:pt>
    <dgm:pt modelId="{5FA3C04C-3A78-45B2-8AFA-FF12ECD960B5}" type="pres">
      <dgm:prSet presAssocID="{2C04858A-2C0D-490A-9BB4-FE6173F5AF2D}" presName="linNode" presStyleCnt="0"/>
      <dgm:spPr/>
    </dgm:pt>
    <dgm:pt modelId="{6E7DAF76-46F4-4E07-BA89-C956BF7CE1EA}" type="pres">
      <dgm:prSet presAssocID="{2C04858A-2C0D-490A-9BB4-FE6173F5AF2D}" presName="parentText" presStyleLbl="node1" presStyleIdx="4" presStyleCnt="5" custScaleX="235741">
        <dgm:presLayoutVars>
          <dgm:chMax val="1"/>
          <dgm:bulletEnabled val="1"/>
        </dgm:presLayoutVars>
      </dgm:prSet>
      <dgm:spPr/>
    </dgm:pt>
  </dgm:ptLst>
  <dgm:cxnLst>
    <dgm:cxn modelId="{DF284C70-92FD-4075-8D34-7FDDB64376C9}" type="presOf" srcId="{2C04858A-2C0D-490A-9BB4-FE6173F5AF2D}" destId="{6E7DAF76-46F4-4E07-BA89-C956BF7CE1EA}" srcOrd="0" destOrd="0" presId="urn:microsoft.com/office/officeart/2005/8/layout/vList5"/>
    <dgm:cxn modelId="{855614BA-8C8E-4690-851B-F1B577F59708}" srcId="{FB933C2C-FB26-41BD-8A2D-8A89335162F2}" destId="{1B3B7003-A8C8-4897-97F7-22BCDD71A3E6}" srcOrd="2" destOrd="0" parTransId="{09A22B67-086F-4FD7-A56E-23DD641163D6}" sibTransId="{8C2C5133-AB18-4A7C-BA91-CD45EBF873BD}"/>
    <dgm:cxn modelId="{6CBD5195-3997-439C-9B40-BD16FECBC8CF}" type="presOf" srcId="{FB933C2C-FB26-41BD-8A2D-8A89335162F2}" destId="{9A6B4E5A-C1D7-41B7-A048-48B4D2942ABA}" srcOrd="0" destOrd="0" presId="urn:microsoft.com/office/officeart/2005/8/layout/vList5"/>
    <dgm:cxn modelId="{F4B9486D-022F-4EB3-8827-496824F54438}" srcId="{FB933C2C-FB26-41BD-8A2D-8A89335162F2}" destId="{E6C2B3C8-F10B-4F36-B98D-0DCFA42F61B3}" srcOrd="0" destOrd="0" parTransId="{9543975D-0F83-421A-8294-8902AADFE0CA}" sibTransId="{EF68564A-BC4E-4FD3-BC41-3AEFD5A6982A}"/>
    <dgm:cxn modelId="{D86DE1A4-AE14-455C-A1D6-D224B837FEE8}" type="presOf" srcId="{339E40E6-EEBF-4076-B4BE-44804C1ABFC3}" destId="{4AE9F2D4-9DB4-4430-833C-B890CDA000AF}" srcOrd="0" destOrd="0" presId="urn:microsoft.com/office/officeart/2005/8/layout/vList5"/>
    <dgm:cxn modelId="{57F1B02E-4308-468A-85D1-89DBC2C8270A}" srcId="{FB933C2C-FB26-41BD-8A2D-8A89335162F2}" destId="{061C86AE-C587-44F2-AFD8-3437930F9B9A}" srcOrd="1" destOrd="0" parTransId="{376C9C0C-7713-4E07-BBC9-F686B44E22D8}" sibTransId="{506A0550-3622-46B8-84D0-506EC6C529CF}"/>
    <dgm:cxn modelId="{9D9236DE-2442-4F32-B8D1-DDF71F1FD176}" type="presOf" srcId="{E6C2B3C8-F10B-4F36-B98D-0DCFA42F61B3}" destId="{A6414F02-FF62-45D2-97BC-B22415F7B3CD}" srcOrd="0" destOrd="0" presId="urn:microsoft.com/office/officeart/2005/8/layout/vList5"/>
    <dgm:cxn modelId="{8158C42C-9E2F-47A2-8203-0C290ABB3480}" srcId="{FB933C2C-FB26-41BD-8A2D-8A89335162F2}" destId="{339E40E6-EEBF-4076-B4BE-44804C1ABFC3}" srcOrd="3" destOrd="0" parTransId="{193360F2-D92F-46E6-88E2-CBAD95A54007}" sibTransId="{FF49DCA0-858F-4876-9DE1-1D4413193DE8}"/>
    <dgm:cxn modelId="{40051358-CA36-4585-B231-C808B33AA7A3}" type="presOf" srcId="{061C86AE-C587-44F2-AFD8-3437930F9B9A}" destId="{0345BE50-5E09-45A7-A3B9-724D9931F33F}" srcOrd="0" destOrd="0" presId="urn:microsoft.com/office/officeart/2005/8/layout/vList5"/>
    <dgm:cxn modelId="{9B7A8E19-9771-49A0-9D2C-2B08DD01B2F1}" srcId="{FB933C2C-FB26-41BD-8A2D-8A89335162F2}" destId="{2C04858A-2C0D-490A-9BB4-FE6173F5AF2D}" srcOrd="4" destOrd="0" parTransId="{359638E2-0C36-4236-BDBB-8E5536BCDF0C}" sibTransId="{DD33A7AE-B9B3-4DF1-81BF-72BB275A69DA}"/>
    <dgm:cxn modelId="{44CAE1FD-AC53-48FA-BEE3-47FE28B9C345}" type="presOf" srcId="{1B3B7003-A8C8-4897-97F7-22BCDD71A3E6}" destId="{D278BCE4-C36F-4DDF-9048-C0B1BF325356}" srcOrd="0" destOrd="0" presId="urn:microsoft.com/office/officeart/2005/8/layout/vList5"/>
    <dgm:cxn modelId="{16777C15-491D-4FE6-93CC-1D4F2D353E85}" type="presParOf" srcId="{9A6B4E5A-C1D7-41B7-A048-48B4D2942ABA}" destId="{B8EA0BCF-8684-4A98-8755-E16BF2CF8A8C}" srcOrd="0" destOrd="0" presId="urn:microsoft.com/office/officeart/2005/8/layout/vList5"/>
    <dgm:cxn modelId="{111157BB-928E-4EF2-BB8C-1FD375D94FE3}" type="presParOf" srcId="{B8EA0BCF-8684-4A98-8755-E16BF2CF8A8C}" destId="{A6414F02-FF62-45D2-97BC-B22415F7B3CD}" srcOrd="0" destOrd="0" presId="urn:microsoft.com/office/officeart/2005/8/layout/vList5"/>
    <dgm:cxn modelId="{F6E24714-5A26-4677-95AD-197309B8F2CE}" type="presParOf" srcId="{9A6B4E5A-C1D7-41B7-A048-48B4D2942ABA}" destId="{A09AF2E0-42A3-4201-80E7-EBD239CB8B36}" srcOrd="1" destOrd="0" presId="urn:microsoft.com/office/officeart/2005/8/layout/vList5"/>
    <dgm:cxn modelId="{9DC0F26B-1D6C-45D1-8A49-E2305258F443}" type="presParOf" srcId="{9A6B4E5A-C1D7-41B7-A048-48B4D2942ABA}" destId="{F0FF5EA9-B7D9-45BC-9CBC-62BDDBD64AC9}" srcOrd="2" destOrd="0" presId="urn:microsoft.com/office/officeart/2005/8/layout/vList5"/>
    <dgm:cxn modelId="{1BF0E0C2-4DEB-416D-B221-A49008DE6DA6}" type="presParOf" srcId="{F0FF5EA9-B7D9-45BC-9CBC-62BDDBD64AC9}" destId="{0345BE50-5E09-45A7-A3B9-724D9931F33F}" srcOrd="0" destOrd="0" presId="urn:microsoft.com/office/officeart/2005/8/layout/vList5"/>
    <dgm:cxn modelId="{E039EBA1-1295-43F1-A66F-6FCF8979BBA7}" type="presParOf" srcId="{9A6B4E5A-C1D7-41B7-A048-48B4D2942ABA}" destId="{7FB64808-5A36-4437-8A87-CDC1845D0EA1}" srcOrd="3" destOrd="0" presId="urn:microsoft.com/office/officeart/2005/8/layout/vList5"/>
    <dgm:cxn modelId="{3535CF7A-D91A-427E-9203-6CB2FD36AAB1}" type="presParOf" srcId="{9A6B4E5A-C1D7-41B7-A048-48B4D2942ABA}" destId="{18A9BCE9-2FB0-46B6-9B09-9614A79B15D2}" srcOrd="4" destOrd="0" presId="urn:microsoft.com/office/officeart/2005/8/layout/vList5"/>
    <dgm:cxn modelId="{5EDC0398-1071-4632-87E0-7CF106700795}" type="presParOf" srcId="{18A9BCE9-2FB0-46B6-9B09-9614A79B15D2}" destId="{D278BCE4-C36F-4DDF-9048-C0B1BF325356}" srcOrd="0" destOrd="0" presId="urn:microsoft.com/office/officeart/2005/8/layout/vList5"/>
    <dgm:cxn modelId="{7D7D3D60-C5C8-4A24-AEB4-16D7EA7ABDA6}" type="presParOf" srcId="{9A6B4E5A-C1D7-41B7-A048-48B4D2942ABA}" destId="{642A951E-4156-4478-BC45-B515961DA1EC}" srcOrd="5" destOrd="0" presId="urn:microsoft.com/office/officeart/2005/8/layout/vList5"/>
    <dgm:cxn modelId="{C7EA435B-9D5E-46D5-981C-A6FA66FDA0D7}" type="presParOf" srcId="{9A6B4E5A-C1D7-41B7-A048-48B4D2942ABA}" destId="{0B8F5BC8-2920-4FB2-A0EC-BC77C142EDAA}" srcOrd="6" destOrd="0" presId="urn:microsoft.com/office/officeart/2005/8/layout/vList5"/>
    <dgm:cxn modelId="{1F6335BA-4C47-44C5-B6C2-D7F28AA3173B}" type="presParOf" srcId="{0B8F5BC8-2920-4FB2-A0EC-BC77C142EDAA}" destId="{4AE9F2D4-9DB4-4430-833C-B890CDA000AF}" srcOrd="0" destOrd="0" presId="urn:microsoft.com/office/officeart/2005/8/layout/vList5"/>
    <dgm:cxn modelId="{95A89328-D2D4-47FA-BF1D-B6F2EC7EB2C1}" type="presParOf" srcId="{9A6B4E5A-C1D7-41B7-A048-48B4D2942ABA}" destId="{AB609AFF-6972-4268-9A15-A3724800DEAF}" srcOrd="7" destOrd="0" presId="urn:microsoft.com/office/officeart/2005/8/layout/vList5"/>
    <dgm:cxn modelId="{FC5DB21F-84FF-45DB-B6F7-5C3C7041A956}" type="presParOf" srcId="{9A6B4E5A-C1D7-41B7-A048-48B4D2942ABA}" destId="{5FA3C04C-3A78-45B2-8AFA-FF12ECD960B5}" srcOrd="8" destOrd="0" presId="urn:microsoft.com/office/officeart/2005/8/layout/vList5"/>
    <dgm:cxn modelId="{437E881F-2F47-453C-92AF-5C5F1073E4A0}" type="presParOf" srcId="{5FA3C04C-3A78-45B2-8AFA-FF12ECD960B5}" destId="{6E7DAF76-46F4-4E07-BA89-C956BF7CE1E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553C05-40F1-4693-9572-A972AAC7E1E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DEEFA65-A8D0-43E8-B3BB-ED5074FDE3FA}">
      <dgm:prSet phldrT="[Текст]" custT="1"/>
      <dgm:spPr/>
      <dgm:t>
        <a:bodyPr/>
        <a:lstStyle/>
        <a:p>
          <a:r>
            <a:rPr lang="ru-RU" sz="2400" b="1" i="0" dirty="0" smtClean="0"/>
            <a:t>Молодые клиенты (18-30)</a:t>
          </a:r>
          <a:endParaRPr lang="ru-RU" sz="2400" dirty="0"/>
        </a:p>
      </dgm:t>
    </dgm:pt>
    <dgm:pt modelId="{9B75446E-D669-492C-AC56-831BFF8A59B3}" type="parTrans" cxnId="{93BE5248-9BEA-4556-98C9-E4C4ABD51FAE}">
      <dgm:prSet/>
      <dgm:spPr/>
      <dgm:t>
        <a:bodyPr/>
        <a:lstStyle/>
        <a:p>
          <a:endParaRPr lang="ru-RU"/>
        </a:p>
      </dgm:t>
    </dgm:pt>
    <dgm:pt modelId="{520C54CD-EB3F-469C-9F95-B28B93E04956}" type="sibTrans" cxnId="{93BE5248-9BEA-4556-98C9-E4C4ABD51FAE}">
      <dgm:prSet/>
      <dgm:spPr/>
      <dgm:t>
        <a:bodyPr/>
        <a:lstStyle/>
        <a:p>
          <a:endParaRPr lang="ru-RU"/>
        </a:p>
      </dgm:t>
    </dgm:pt>
    <dgm:pt modelId="{FAEE091D-8FDE-4A7E-A8DB-22F224E1494B}">
      <dgm:prSet phldrT="[Текст]"/>
      <dgm:spPr/>
      <dgm:t>
        <a:bodyPr/>
        <a:lstStyle/>
        <a:p>
          <a:r>
            <a:rPr lang="ru-RU" dirty="0" smtClean="0"/>
            <a:t>   49,15%</a:t>
          </a:r>
          <a:endParaRPr lang="ru-RU" dirty="0"/>
        </a:p>
      </dgm:t>
    </dgm:pt>
    <dgm:pt modelId="{BE2982E0-856C-4B8C-AA37-C637731E8F41}" type="parTrans" cxnId="{AC0270CF-5291-4215-B3E9-A15C930F52BF}">
      <dgm:prSet/>
      <dgm:spPr/>
      <dgm:t>
        <a:bodyPr/>
        <a:lstStyle/>
        <a:p>
          <a:endParaRPr lang="ru-RU"/>
        </a:p>
      </dgm:t>
    </dgm:pt>
    <dgm:pt modelId="{925EE4E3-23E5-48C8-B72D-FB4AEB9CC871}" type="sibTrans" cxnId="{AC0270CF-5291-4215-B3E9-A15C930F52BF}">
      <dgm:prSet/>
      <dgm:spPr/>
      <dgm:t>
        <a:bodyPr/>
        <a:lstStyle/>
        <a:p>
          <a:endParaRPr lang="ru-RU"/>
        </a:p>
      </dgm:t>
    </dgm:pt>
    <dgm:pt modelId="{5C790F99-77EE-430D-B262-70F853485CC6}">
      <dgm:prSet phldrT="[Текст]"/>
      <dgm:spPr/>
      <dgm:t>
        <a:bodyPr/>
        <a:lstStyle/>
        <a:p>
          <a:r>
            <a:rPr lang="ru-RU" b="1" i="0" dirty="0" smtClean="0"/>
            <a:t>Зрелые клиенты (46-60)</a:t>
          </a:r>
          <a:endParaRPr lang="ru-RU" dirty="0"/>
        </a:p>
      </dgm:t>
    </dgm:pt>
    <dgm:pt modelId="{AC35BBD4-E35C-49DA-B526-2B3092D9C13C}" type="parTrans" cxnId="{03DB8FD2-6481-402B-A35F-9335218B6542}">
      <dgm:prSet/>
      <dgm:spPr/>
      <dgm:t>
        <a:bodyPr/>
        <a:lstStyle/>
        <a:p>
          <a:endParaRPr lang="ru-RU"/>
        </a:p>
      </dgm:t>
    </dgm:pt>
    <dgm:pt modelId="{758204C1-D97A-4D56-BC7B-F4D6393B40A2}" type="sibTrans" cxnId="{03DB8FD2-6481-402B-A35F-9335218B6542}">
      <dgm:prSet/>
      <dgm:spPr/>
      <dgm:t>
        <a:bodyPr/>
        <a:lstStyle/>
        <a:p>
          <a:endParaRPr lang="ru-RU"/>
        </a:p>
      </dgm:t>
    </dgm:pt>
    <dgm:pt modelId="{09919904-C634-4B00-BF31-78DD7D7D494D}">
      <dgm:prSet phldrT="[Текст]"/>
      <dgm:spPr/>
      <dgm:t>
        <a:bodyPr/>
        <a:lstStyle/>
        <a:p>
          <a:r>
            <a:rPr lang="ru-RU" dirty="0" smtClean="0"/>
            <a:t>   52,22%</a:t>
          </a:r>
          <a:endParaRPr lang="ru-RU" dirty="0"/>
        </a:p>
      </dgm:t>
    </dgm:pt>
    <dgm:pt modelId="{AEE3E8F0-B24E-4A71-9D8A-43744004C914}" type="parTrans" cxnId="{CE834B24-98E0-478C-A369-F6543A3A079E}">
      <dgm:prSet/>
      <dgm:spPr/>
      <dgm:t>
        <a:bodyPr/>
        <a:lstStyle/>
        <a:p>
          <a:endParaRPr lang="ru-RU"/>
        </a:p>
      </dgm:t>
    </dgm:pt>
    <dgm:pt modelId="{03C343CB-DF9C-4D36-AA6B-4846669CB910}" type="sibTrans" cxnId="{CE834B24-98E0-478C-A369-F6543A3A079E}">
      <dgm:prSet/>
      <dgm:spPr/>
      <dgm:t>
        <a:bodyPr/>
        <a:lstStyle/>
        <a:p>
          <a:endParaRPr lang="ru-RU"/>
        </a:p>
      </dgm:t>
    </dgm:pt>
    <dgm:pt modelId="{9F172B9C-B1BE-423B-9BDB-D326BFEA8C49}">
      <dgm:prSet phldrT="[Текст]"/>
      <dgm:spPr/>
      <dgm:t>
        <a:bodyPr/>
        <a:lstStyle/>
        <a:p>
          <a:r>
            <a:rPr lang="ru-RU" b="1" i="0" dirty="0" smtClean="0"/>
            <a:t>Пожилые клиенты (60+)</a:t>
          </a:r>
          <a:endParaRPr lang="ru-RU" dirty="0"/>
        </a:p>
      </dgm:t>
    </dgm:pt>
    <dgm:pt modelId="{9B1019F6-B098-4D8E-AF0B-306E56BBF2FA}" type="parTrans" cxnId="{C6012BCC-0D2E-41F5-9D8F-ACDA457B8B45}">
      <dgm:prSet/>
      <dgm:spPr/>
      <dgm:t>
        <a:bodyPr/>
        <a:lstStyle/>
        <a:p>
          <a:endParaRPr lang="ru-RU"/>
        </a:p>
      </dgm:t>
    </dgm:pt>
    <dgm:pt modelId="{18F8F22C-B979-4ACD-B25D-88A05F893FBA}" type="sibTrans" cxnId="{C6012BCC-0D2E-41F5-9D8F-ACDA457B8B45}">
      <dgm:prSet/>
      <dgm:spPr/>
      <dgm:t>
        <a:bodyPr/>
        <a:lstStyle/>
        <a:p>
          <a:endParaRPr lang="ru-RU"/>
        </a:p>
      </dgm:t>
    </dgm:pt>
    <dgm:pt modelId="{5EF2E6AA-8BB1-4C77-8274-41EE5AF19B69}">
      <dgm:prSet phldrT="[Текст]"/>
      <dgm:spPr/>
      <dgm:t>
        <a:bodyPr/>
        <a:lstStyle/>
        <a:p>
          <a:r>
            <a:rPr lang="ru-RU" dirty="0" smtClean="0"/>
            <a:t>   80,82 %</a:t>
          </a:r>
          <a:endParaRPr lang="ru-RU" dirty="0"/>
        </a:p>
      </dgm:t>
    </dgm:pt>
    <dgm:pt modelId="{B08662AE-6A19-4E71-99FE-D875A6138B3E}" type="parTrans" cxnId="{9826CE08-8ECA-427A-A6D8-2EA693CAAD4B}">
      <dgm:prSet/>
      <dgm:spPr/>
      <dgm:t>
        <a:bodyPr/>
        <a:lstStyle/>
        <a:p>
          <a:endParaRPr lang="ru-RU"/>
        </a:p>
      </dgm:t>
    </dgm:pt>
    <dgm:pt modelId="{D1A8B72E-5756-4296-9405-6FA64BA79250}" type="sibTrans" cxnId="{9826CE08-8ECA-427A-A6D8-2EA693CAAD4B}">
      <dgm:prSet/>
      <dgm:spPr/>
      <dgm:t>
        <a:bodyPr/>
        <a:lstStyle/>
        <a:p>
          <a:endParaRPr lang="ru-RU"/>
        </a:p>
      </dgm:t>
    </dgm:pt>
    <dgm:pt modelId="{C479FE68-05AF-43F3-8481-8FB2D7F2830B}">
      <dgm:prSet/>
      <dgm:spPr/>
      <dgm:t>
        <a:bodyPr/>
        <a:lstStyle/>
        <a:p>
          <a:r>
            <a:rPr lang="ru-RU" b="1" i="0" dirty="0" smtClean="0"/>
            <a:t>Клиенты среднего возраста (31-45)</a:t>
          </a:r>
          <a:endParaRPr lang="ru-RU" dirty="0"/>
        </a:p>
      </dgm:t>
    </dgm:pt>
    <dgm:pt modelId="{6C243E55-7335-4FF0-9B9A-BBFA36F73E8C}" type="parTrans" cxnId="{CFE67D61-89A3-4791-BB97-FBDE31E7AAEC}">
      <dgm:prSet/>
      <dgm:spPr/>
      <dgm:t>
        <a:bodyPr/>
        <a:lstStyle/>
        <a:p>
          <a:endParaRPr lang="ru-RU"/>
        </a:p>
      </dgm:t>
    </dgm:pt>
    <dgm:pt modelId="{192A0DEF-C794-4D21-9E36-6B641E8E1470}" type="sibTrans" cxnId="{CFE67D61-89A3-4791-BB97-FBDE31E7AAEC}">
      <dgm:prSet/>
      <dgm:spPr/>
      <dgm:t>
        <a:bodyPr/>
        <a:lstStyle/>
        <a:p>
          <a:endParaRPr lang="ru-RU"/>
        </a:p>
      </dgm:t>
    </dgm:pt>
    <dgm:pt modelId="{D68F5525-AC8E-41BB-960A-9FD6DA6A1603}" type="pres">
      <dgm:prSet presAssocID="{7B553C05-40F1-4693-9572-A972AAC7E1EC}" presName="Name0" presStyleCnt="0">
        <dgm:presLayoutVars>
          <dgm:dir/>
          <dgm:animLvl val="lvl"/>
          <dgm:resizeHandles val="exact"/>
        </dgm:presLayoutVars>
      </dgm:prSet>
      <dgm:spPr/>
    </dgm:pt>
    <dgm:pt modelId="{B361CA2B-7E37-4C8E-B6E4-7F02D466A00E}" type="pres">
      <dgm:prSet presAssocID="{6DEEFA65-A8D0-43E8-B3BB-ED5074FDE3FA}" presName="linNode" presStyleCnt="0"/>
      <dgm:spPr/>
    </dgm:pt>
    <dgm:pt modelId="{84816617-0D97-408A-A191-1C5171A2007F}" type="pres">
      <dgm:prSet presAssocID="{6DEEFA65-A8D0-43E8-B3BB-ED5074FDE3FA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14326C-499F-48F5-BBB3-4427A008DB92}" type="pres">
      <dgm:prSet presAssocID="{6DEEFA65-A8D0-43E8-B3BB-ED5074FDE3FA}" presName="descendantText" presStyleLbl="alignAccFollowNode1" presStyleIdx="0" presStyleCnt="3" custLinFactY="31816" custLinFactNeighborX="313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20E0F6-6E6F-4994-A9CB-2691BE7B5656}" type="pres">
      <dgm:prSet presAssocID="{520C54CD-EB3F-469C-9F95-B28B93E04956}" presName="sp" presStyleCnt="0"/>
      <dgm:spPr/>
    </dgm:pt>
    <dgm:pt modelId="{3C168821-F428-44F0-B044-AF4FD39ECE64}" type="pres">
      <dgm:prSet presAssocID="{C479FE68-05AF-43F3-8481-8FB2D7F2830B}" presName="linNode" presStyleCnt="0"/>
      <dgm:spPr/>
    </dgm:pt>
    <dgm:pt modelId="{D8D9DAE1-6178-43EE-8B4C-356968F753FC}" type="pres">
      <dgm:prSet presAssocID="{C479FE68-05AF-43F3-8481-8FB2D7F2830B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2237AA-ACFB-46AF-872D-FEE411E9DD8C}" type="pres">
      <dgm:prSet presAssocID="{192A0DEF-C794-4D21-9E36-6B641E8E1470}" presName="sp" presStyleCnt="0"/>
      <dgm:spPr/>
    </dgm:pt>
    <dgm:pt modelId="{1A0AD63E-A1B7-4F1B-9AB4-7079DFB2B2F0}" type="pres">
      <dgm:prSet presAssocID="{5C790F99-77EE-430D-B262-70F853485CC6}" presName="linNode" presStyleCnt="0"/>
      <dgm:spPr/>
    </dgm:pt>
    <dgm:pt modelId="{B7C92725-3E6F-4CC0-9FB9-9CC90698929C}" type="pres">
      <dgm:prSet presAssocID="{5C790F99-77EE-430D-B262-70F853485CC6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C5DA4F-1695-4EEC-AE60-000661563688}" type="pres">
      <dgm:prSet presAssocID="{5C790F99-77EE-430D-B262-70F853485CC6}" presName="descendantText" presStyleLbl="alignAccFollowNode1" presStyleIdx="1" presStyleCnt="3" custLinFactNeighborX="-9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2393D5-CFDE-4908-AACA-9EFA6A721B1C}" type="pres">
      <dgm:prSet presAssocID="{758204C1-D97A-4D56-BC7B-F4D6393B40A2}" presName="sp" presStyleCnt="0"/>
      <dgm:spPr/>
    </dgm:pt>
    <dgm:pt modelId="{76747444-8280-4B72-B86E-8CAA35017B9E}" type="pres">
      <dgm:prSet presAssocID="{9F172B9C-B1BE-423B-9BDB-D326BFEA8C49}" presName="linNode" presStyleCnt="0"/>
      <dgm:spPr/>
    </dgm:pt>
    <dgm:pt modelId="{E8E56DE6-5AFE-4103-BC0C-A4981F3EFF6D}" type="pres">
      <dgm:prSet presAssocID="{9F172B9C-B1BE-423B-9BDB-D326BFEA8C49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748435-A46E-4D60-95E1-5CFE340226AD}" type="pres">
      <dgm:prSet presAssocID="{9F172B9C-B1BE-423B-9BDB-D326BFEA8C49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2A9F36D-AEDC-4AC2-B83C-01FDA6388709}" type="presOf" srcId="{5C790F99-77EE-430D-B262-70F853485CC6}" destId="{B7C92725-3E6F-4CC0-9FB9-9CC90698929C}" srcOrd="0" destOrd="0" presId="urn:microsoft.com/office/officeart/2005/8/layout/vList5"/>
    <dgm:cxn modelId="{03DB8FD2-6481-402B-A35F-9335218B6542}" srcId="{7B553C05-40F1-4693-9572-A972AAC7E1EC}" destId="{5C790F99-77EE-430D-B262-70F853485CC6}" srcOrd="2" destOrd="0" parTransId="{AC35BBD4-E35C-49DA-B526-2B3092D9C13C}" sibTransId="{758204C1-D97A-4D56-BC7B-F4D6393B40A2}"/>
    <dgm:cxn modelId="{93BE5248-9BEA-4556-98C9-E4C4ABD51FAE}" srcId="{7B553C05-40F1-4693-9572-A972AAC7E1EC}" destId="{6DEEFA65-A8D0-43E8-B3BB-ED5074FDE3FA}" srcOrd="0" destOrd="0" parTransId="{9B75446E-D669-492C-AC56-831BFF8A59B3}" sibTransId="{520C54CD-EB3F-469C-9F95-B28B93E04956}"/>
    <dgm:cxn modelId="{CFE67D61-89A3-4791-BB97-FBDE31E7AAEC}" srcId="{7B553C05-40F1-4693-9572-A972AAC7E1EC}" destId="{C479FE68-05AF-43F3-8481-8FB2D7F2830B}" srcOrd="1" destOrd="0" parTransId="{6C243E55-7335-4FF0-9B9A-BBFA36F73E8C}" sibTransId="{192A0DEF-C794-4D21-9E36-6B641E8E1470}"/>
    <dgm:cxn modelId="{8014A32A-7306-4352-9E35-6574D6C7B378}" type="presOf" srcId="{7B553C05-40F1-4693-9572-A972AAC7E1EC}" destId="{D68F5525-AC8E-41BB-960A-9FD6DA6A1603}" srcOrd="0" destOrd="0" presId="urn:microsoft.com/office/officeart/2005/8/layout/vList5"/>
    <dgm:cxn modelId="{361315D9-2369-4642-A550-F409F957DC1F}" type="presOf" srcId="{9F172B9C-B1BE-423B-9BDB-D326BFEA8C49}" destId="{E8E56DE6-5AFE-4103-BC0C-A4981F3EFF6D}" srcOrd="0" destOrd="0" presId="urn:microsoft.com/office/officeart/2005/8/layout/vList5"/>
    <dgm:cxn modelId="{7B6B82D2-659A-4685-A0CE-15427028FD09}" type="presOf" srcId="{C479FE68-05AF-43F3-8481-8FB2D7F2830B}" destId="{D8D9DAE1-6178-43EE-8B4C-356968F753FC}" srcOrd="0" destOrd="0" presId="urn:microsoft.com/office/officeart/2005/8/layout/vList5"/>
    <dgm:cxn modelId="{CE834B24-98E0-478C-A369-F6543A3A079E}" srcId="{5C790F99-77EE-430D-B262-70F853485CC6}" destId="{09919904-C634-4B00-BF31-78DD7D7D494D}" srcOrd="0" destOrd="0" parTransId="{AEE3E8F0-B24E-4A71-9D8A-43744004C914}" sibTransId="{03C343CB-DF9C-4D36-AA6B-4846669CB910}"/>
    <dgm:cxn modelId="{73301C48-4A61-4367-9866-2600ED9C8362}" type="presOf" srcId="{09919904-C634-4B00-BF31-78DD7D7D494D}" destId="{3FC5DA4F-1695-4EEC-AE60-000661563688}" srcOrd="0" destOrd="0" presId="urn:microsoft.com/office/officeart/2005/8/layout/vList5"/>
    <dgm:cxn modelId="{AC0270CF-5291-4215-B3E9-A15C930F52BF}" srcId="{6DEEFA65-A8D0-43E8-B3BB-ED5074FDE3FA}" destId="{FAEE091D-8FDE-4A7E-A8DB-22F224E1494B}" srcOrd="0" destOrd="0" parTransId="{BE2982E0-856C-4B8C-AA37-C637731E8F41}" sibTransId="{925EE4E3-23E5-48C8-B72D-FB4AEB9CC871}"/>
    <dgm:cxn modelId="{E48BC60F-0CD9-4320-886C-0E84E334BFF7}" type="presOf" srcId="{5EF2E6AA-8BB1-4C77-8274-41EE5AF19B69}" destId="{B9748435-A46E-4D60-95E1-5CFE340226AD}" srcOrd="0" destOrd="0" presId="urn:microsoft.com/office/officeart/2005/8/layout/vList5"/>
    <dgm:cxn modelId="{C6012BCC-0D2E-41F5-9D8F-ACDA457B8B45}" srcId="{7B553C05-40F1-4693-9572-A972AAC7E1EC}" destId="{9F172B9C-B1BE-423B-9BDB-D326BFEA8C49}" srcOrd="3" destOrd="0" parTransId="{9B1019F6-B098-4D8E-AF0B-306E56BBF2FA}" sibTransId="{18F8F22C-B979-4ACD-B25D-88A05F893FBA}"/>
    <dgm:cxn modelId="{9826CE08-8ECA-427A-A6D8-2EA693CAAD4B}" srcId="{9F172B9C-B1BE-423B-9BDB-D326BFEA8C49}" destId="{5EF2E6AA-8BB1-4C77-8274-41EE5AF19B69}" srcOrd="0" destOrd="0" parTransId="{B08662AE-6A19-4E71-99FE-D875A6138B3E}" sibTransId="{D1A8B72E-5756-4296-9405-6FA64BA79250}"/>
    <dgm:cxn modelId="{DF7BDCF0-49AC-4336-8954-5BBE6B706063}" type="presOf" srcId="{6DEEFA65-A8D0-43E8-B3BB-ED5074FDE3FA}" destId="{84816617-0D97-408A-A191-1C5171A2007F}" srcOrd="0" destOrd="0" presId="urn:microsoft.com/office/officeart/2005/8/layout/vList5"/>
    <dgm:cxn modelId="{DE1C02C1-7534-4D0A-A780-18B358E02EEF}" type="presOf" srcId="{FAEE091D-8FDE-4A7E-A8DB-22F224E1494B}" destId="{7014326C-499F-48F5-BBB3-4427A008DB92}" srcOrd="0" destOrd="0" presId="urn:microsoft.com/office/officeart/2005/8/layout/vList5"/>
    <dgm:cxn modelId="{9D5A1374-D412-4A17-B662-5826AA69C2A3}" type="presParOf" srcId="{D68F5525-AC8E-41BB-960A-9FD6DA6A1603}" destId="{B361CA2B-7E37-4C8E-B6E4-7F02D466A00E}" srcOrd="0" destOrd="0" presId="urn:microsoft.com/office/officeart/2005/8/layout/vList5"/>
    <dgm:cxn modelId="{D2A199D9-0CD1-41A7-855C-6F498AB5C1BA}" type="presParOf" srcId="{B361CA2B-7E37-4C8E-B6E4-7F02D466A00E}" destId="{84816617-0D97-408A-A191-1C5171A2007F}" srcOrd="0" destOrd="0" presId="urn:microsoft.com/office/officeart/2005/8/layout/vList5"/>
    <dgm:cxn modelId="{83993A78-DE3B-40C4-9A8F-FD8AF60751C8}" type="presParOf" srcId="{B361CA2B-7E37-4C8E-B6E4-7F02D466A00E}" destId="{7014326C-499F-48F5-BBB3-4427A008DB92}" srcOrd="1" destOrd="0" presId="urn:microsoft.com/office/officeart/2005/8/layout/vList5"/>
    <dgm:cxn modelId="{FA807E0C-D40D-434D-977B-203272D46DA3}" type="presParOf" srcId="{D68F5525-AC8E-41BB-960A-9FD6DA6A1603}" destId="{B120E0F6-6E6F-4994-A9CB-2691BE7B5656}" srcOrd="1" destOrd="0" presId="urn:microsoft.com/office/officeart/2005/8/layout/vList5"/>
    <dgm:cxn modelId="{C156B4D9-C40E-4ABD-BE41-1BC32C2287A4}" type="presParOf" srcId="{D68F5525-AC8E-41BB-960A-9FD6DA6A1603}" destId="{3C168821-F428-44F0-B044-AF4FD39ECE64}" srcOrd="2" destOrd="0" presId="urn:microsoft.com/office/officeart/2005/8/layout/vList5"/>
    <dgm:cxn modelId="{95583DF5-31AF-47A5-9F4A-82C07AE8CF8D}" type="presParOf" srcId="{3C168821-F428-44F0-B044-AF4FD39ECE64}" destId="{D8D9DAE1-6178-43EE-8B4C-356968F753FC}" srcOrd="0" destOrd="0" presId="urn:microsoft.com/office/officeart/2005/8/layout/vList5"/>
    <dgm:cxn modelId="{A3D7FB54-1072-4110-8660-1A5E4C130CDC}" type="presParOf" srcId="{D68F5525-AC8E-41BB-960A-9FD6DA6A1603}" destId="{9C2237AA-ACFB-46AF-872D-FEE411E9DD8C}" srcOrd="3" destOrd="0" presId="urn:microsoft.com/office/officeart/2005/8/layout/vList5"/>
    <dgm:cxn modelId="{229D359F-BFCD-4622-BFC0-3459306FF67A}" type="presParOf" srcId="{D68F5525-AC8E-41BB-960A-9FD6DA6A1603}" destId="{1A0AD63E-A1B7-4F1B-9AB4-7079DFB2B2F0}" srcOrd="4" destOrd="0" presId="urn:microsoft.com/office/officeart/2005/8/layout/vList5"/>
    <dgm:cxn modelId="{7BD6450F-D903-44D9-A888-C967A60296C8}" type="presParOf" srcId="{1A0AD63E-A1B7-4F1B-9AB4-7079DFB2B2F0}" destId="{B7C92725-3E6F-4CC0-9FB9-9CC90698929C}" srcOrd="0" destOrd="0" presId="urn:microsoft.com/office/officeart/2005/8/layout/vList5"/>
    <dgm:cxn modelId="{8959FEBA-041B-4175-B7B6-F0B33C1D3E20}" type="presParOf" srcId="{1A0AD63E-A1B7-4F1B-9AB4-7079DFB2B2F0}" destId="{3FC5DA4F-1695-4EEC-AE60-000661563688}" srcOrd="1" destOrd="0" presId="urn:microsoft.com/office/officeart/2005/8/layout/vList5"/>
    <dgm:cxn modelId="{3337D9A0-9941-4BC6-AEF4-448D828E58F3}" type="presParOf" srcId="{D68F5525-AC8E-41BB-960A-9FD6DA6A1603}" destId="{542393D5-CFDE-4908-AACA-9EFA6A721B1C}" srcOrd="5" destOrd="0" presId="urn:microsoft.com/office/officeart/2005/8/layout/vList5"/>
    <dgm:cxn modelId="{B18EDEA4-3C45-4EEC-8900-6AA5AF2ACC00}" type="presParOf" srcId="{D68F5525-AC8E-41BB-960A-9FD6DA6A1603}" destId="{76747444-8280-4B72-B86E-8CAA35017B9E}" srcOrd="6" destOrd="0" presId="urn:microsoft.com/office/officeart/2005/8/layout/vList5"/>
    <dgm:cxn modelId="{BDE946AF-D19C-4669-A21E-455CAAB3DA13}" type="presParOf" srcId="{76747444-8280-4B72-B86E-8CAA35017B9E}" destId="{E8E56DE6-5AFE-4103-BC0C-A4981F3EFF6D}" srcOrd="0" destOrd="0" presId="urn:microsoft.com/office/officeart/2005/8/layout/vList5"/>
    <dgm:cxn modelId="{40131D3A-567F-4102-873F-35347DF8ED02}" type="presParOf" srcId="{76747444-8280-4B72-B86E-8CAA35017B9E}" destId="{B9748435-A46E-4D60-95E1-5CFE340226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86991-0933-40EC-A823-768C804F1D6F}">
      <dsp:nvSpPr>
        <dsp:cNvPr id="0" name=""/>
        <dsp:cNvSpPr/>
      </dsp:nvSpPr>
      <dsp:spPr>
        <a:xfrm>
          <a:off x="2055434" y="0"/>
          <a:ext cx="5569331" cy="556933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360BC-99C1-4DE6-8C8D-663C0EA03366}">
      <dsp:nvSpPr>
        <dsp:cNvPr id="0" name=""/>
        <dsp:cNvSpPr/>
      </dsp:nvSpPr>
      <dsp:spPr>
        <a:xfrm>
          <a:off x="4840100" y="557476"/>
          <a:ext cx="3620065" cy="395944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i="0" kern="1200" smtClean="0"/>
            <a:t>Приступаем к исследованию данных</a:t>
          </a:r>
          <a:endParaRPr lang="ru-RU" sz="3200" kern="1200"/>
        </a:p>
      </dsp:txBody>
      <dsp:txXfrm>
        <a:off x="5016817" y="734193"/>
        <a:ext cx="3266631" cy="3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14F02-FF62-45D2-97BC-B22415F7B3CD}">
      <dsp:nvSpPr>
        <dsp:cNvPr id="0" name=""/>
        <dsp:cNvSpPr/>
      </dsp:nvSpPr>
      <dsp:spPr>
        <a:xfrm>
          <a:off x="785129" y="1378"/>
          <a:ext cx="8570113" cy="10574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i="0" kern="1200" dirty="0" smtClean="0"/>
            <a:t>Загрузим таблицу из </a:t>
          </a:r>
          <a:r>
            <a:rPr lang="en-US" sz="2800" b="0" i="0" kern="1200" dirty="0" smtClean="0"/>
            <a:t>CSV-</a:t>
          </a:r>
          <a:r>
            <a:rPr lang="ru-RU" sz="2800" b="0" i="0" kern="1200" dirty="0" smtClean="0"/>
            <a:t>файла</a:t>
          </a:r>
          <a:endParaRPr lang="ru-RU" sz="2800" kern="1200" dirty="0"/>
        </a:p>
      </dsp:txBody>
      <dsp:txXfrm>
        <a:off x="836749" y="52998"/>
        <a:ext cx="8466873" cy="954192"/>
      </dsp:txXfrm>
    </dsp:sp>
    <dsp:sp modelId="{0345BE50-5E09-45A7-A3B9-724D9931F33F}">
      <dsp:nvSpPr>
        <dsp:cNvPr id="0" name=""/>
        <dsp:cNvSpPr/>
      </dsp:nvSpPr>
      <dsp:spPr>
        <a:xfrm>
          <a:off x="785129" y="1111683"/>
          <a:ext cx="8730550" cy="10574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i="0" kern="1200" dirty="0" smtClean="0"/>
            <a:t>Установим нужные библиотеки</a:t>
          </a:r>
          <a:endParaRPr lang="ru-RU" sz="2800" kern="1200" dirty="0"/>
        </a:p>
      </dsp:txBody>
      <dsp:txXfrm>
        <a:off x="836749" y="1163303"/>
        <a:ext cx="8627310" cy="954192"/>
      </dsp:txXfrm>
    </dsp:sp>
    <dsp:sp modelId="{D278BCE4-C36F-4DDF-9048-C0B1BF325356}">
      <dsp:nvSpPr>
        <dsp:cNvPr id="0" name=""/>
        <dsp:cNvSpPr/>
      </dsp:nvSpPr>
      <dsp:spPr>
        <a:xfrm>
          <a:off x="785129" y="2221987"/>
          <a:ext cx="8805969" cy="9768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Не будем спешить ,а внимательно изучим все данные с которыми предстоит работать</a:t>
          </a:r>
          <a:endParaRPr lang="ru-RU" sz="2800" kern="1200" dirty="0"/>
        </a:p>
      </dsp:txBody>
      <dsp:txXfrm>
        <a:off x="832815" y="2269673"/>
        <a:ext cx="8710597" cy="881484"/>
      </dsp:txXfrm>
    </dsp:sp>
    <dsp:sp modelId="{4AE9F2D4-9DB4-4430-833C-B890CDA000AF}">
      <dsp:nvSpPr>
        <dsp:cNvPr id="0" name=""/>
        <dsp:cNvSpPr/>
      </dsp:nvSpPr>
      <dsp:spPr>
        <a:xfrm>
          <a:off x="785129" y="3251715"/>
          <a:ext cx="8751095" cy="10574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smtClean="0"/>
            <a:t>В ходе изучения данных  в </a:t>
          </a:r>
          <a:r>
            <a:rPr lang="ru-RU" sz="2700" b="0" i="0" kern="1200" dirty="0" smtClean="0"/>
            <a:t>'</a:t>
          </a:r>
          <a:r>
            <a:rPr lang="ru-RU" sz="2700" b="0" i="0" kern="1200" dirty="0" err="1" smtClean="0"/>
            <a:t>Tenure</a:t>
          </a:r>
          <a:r>
            <a:rPr lang="ru-RU" sz="2700" b="0" i="0" kern="1200" dirty="0" smtClean="0"/>
            <a:t>' заменим </a:t>
          </a:r>
          <a:r>
            <a:rPr lang="ru-RU" sz="2700" b="0" i="0" kern="1200" dirty="0" err="1" smtClean="0"/>
            <a:t>NaN</a:t>
          </a:r>
          <a:r>
            <a:rPr lang="ru-RU" sz="2700" b="0" i="0" kern="1200" dirty="0" smtClean="0"/>
            <a:t> на 0</a:t>
          </a:r>
          <a:endParaRPr lang="ru-RU" sz="2700" kern="1200" dirty="0"/>
        </a:p>
      </dsp:txBody>
      <dsp:txXfrm>
        <a:off x="836749" y="3303335"/>
        <a:ext cx="8647855" cy="954192"/>
      </dsp:txXfrm>
    </dsp:sp>
    <dsp:sp modelId="{6E7DAF76-46F4-4E07-BA89-C956BF7CE1EA}">
      <dsp:nvSpPr>
        <dsp:cNvPr id="0" name=""/>
        <dsp:cNvSpPr/>
      </dsp:nvSpPr>
      <dsp:spPr>
        <a:xfrm>
          <a:off x="785129" y="4362020"/>
          <a:ext cx="8805969" cy="10574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smtClean="0"/>
            <a:t>Дата фрейм назовем </a:t>
          </a:r>
          <a:r>
            <a:rPr lang="en-US" sz="2700" kern="1200" dirty="0" smtClean="0"/>
            <a:t>df2</a:t>
          </a:r>
          <a:endParaRPr lang="ru-RU" sz="2700" kern="1200" dirty="0"/>
        </a:p>
      </dsp:txBody>
      <dsp:txXfrm>
        <a:off x="836749" y="4413640"/>
        <a:ext cx="8702729" cy="9541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4326C-499F-48F5-BBB3-4427A008DB92}">
      <dsp:nvSpPr>
        <dsp:cNvPr id="0" name=""/>
        <dsp:cNvSpPr/>
      </dsp:nvSpPr>
      <dsp:spPr>
        <a:xfrm rot="5400000">
          <a:off x="5415266" y="-1310422"/>
          <a:ext cx="723744" cy="54373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800" kern="1200" dirty="0" smtClean="0"/>
            <a:t>   49,15%</a:t>
          </a:r>
          <a:endParaRPr lang="ru-RU" sz="3800" kern="1200" dirty="0"/>
        </a:p>
      </dsp:txBody>
      <dsp:txXfrm rot="-5400000">
        <a:off x="3058485" y="1081689"/>
        <a:ext cx="5401976" cy="653084"/>
      </dsp:txXfrm>
    </dsp:sp>
    <dsp:sp modelId="{84816617-0D97-408A-A191-1C5171A2007F}">
      <dsp:nvSpPr>
        <dsp:cNvPr id="0" name=""/>
        <dsp:cNvSpPr/>
      </dsp:nvSpPr>
      <dsp:spPr>
        <a:xfrm>
          <a:off x="0" y="1880"/>
          <a:ext cx="3058485" cy="904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/>
            <a:t>Молодые клиенты (18-30)</a:t>
          </a:r>
          <a:endParaRPr lang="ru-RU" sz="2400" kern="1200" dirty="0"/>
        </a:p>
      </dsp:txBody>
      <dsp:txXfrm>
        <a:off x="44163" y="46043"/>
        <a:ext cx="2970159" cy="816354"/>
      </dsp:txXfrm>
    </dsp:sp>
    <dsp:sp modelId="{D8D9DAE1-6178-43EE-8B4C-356968F753FC}">
      <dsp:nvSpPr>
        <dsp:cNvPr id="0" name=""/>
        <dsp:cNvSpPr/>
      </dsp:nvSpPr>
      <dsp:spPr>
        <a:xfrm>
          <a:off x="0" y="951794"/>
          <a:ext cx="3058485" cy="904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/>
            <a:t>Клиенты среднего возраста (31-45)</a:t>
          </a:r>
          <a:endParaRPr lang="ru-RU" sz="2300" kern="1200" dirty="0"/>
        </a:p>
      </dsp:txBody>
      <dsp:txXfrm>
        <a:off x="44163" y="995957"/>
        <a:ext cx="2970159" cy="816354"/>
      </dsp:txXfrm>
    </dsp:sp>
    <dsp:sp modelId="{3FC5DA4F-1695-4EEC-AE60-000661563688}">
      <dsp:nvSpPr>
        <dsp:cNvPr id="0" name=""/>
        <dsp:cNvSpPr/>
      </dsp:nvSpPr>
      <dsp:spPr>
        <a:xfrm rot="5400000">
          <a:off x="5386944" y="-364604"/>
          <a:ext cx="723744" cy="54373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800" kern="1200" dirty="0" smtClean="0"/>
            <a:t>   52,22%</a:t>
          </a:r>
          <a:endParaRPr lang="ru-RU" sz="3800" kern="1200" dirty="0"/>
        </a:p>
      </dsp:txBody>
      <dsp:txXfrm rot="-5400000">
        <a:off x="3030163" y="2027507"/>
        <a:ext cx="5401976" cy="653084"/>
      </dsp:txXfrm>
    </dsp:sp>
    <dsp:sp modelId="{B7C92725-3E6F-4CC0-9FB9-9CC90698929C}">
      <dsp:nvSpPr>
        <dsp:cNvPr id="0" name=""/>
        <dsp:cNvSpPr/>
      </dsp:nvSpPr>
      <dsp:spPr>
        <a:xfrm>
          <a:off x="0" y="1901709"/>
          <a:ext cx="3058485" cy="904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/>
            <a:t>Зрелые клиенты (46-60)</a:t>
          </a:r>
          <a:endParaRPr lang="ru-RU" sz="2300" kern="1200" dirty="0"/>
        </a:p>
      </dsp:txBody>
      <dsp:txXfrm>
        <a:off x="44163" y="1945872"/>
        <a:ext cx="2970159" cy="816354"/>
      </dsp:txXfrm>
    </dsp:sp>
    <dsp:sp modelId="{B9748435-A46E-4D60-95E1-5CFE340226AD}">
      <dsp:nvSpPr>
        <dsp:cNvPr id="0" name=""/>
        <dsp:cNvSpPr/>
      </dsp:nvSpPr>
      <dsp:spPr>
        <a:xfrm rot="5400000">
          <a:off x="5415266" y="585309"/>
          <a:ext cx="723744" cy="54373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800" kern="1200" dirty="0" smtClean="0"/>
            <a:t>   80,82 %</a:t>
          </a:r>
          <a:endParaRPr lang="ru-RU" sz="3800" kern="1200" dirty="0"/>
        </a:p>
      </dsp:txBody>
      <dsp:txXfrm rot="-5400000">
        <a:off x="3058485" y="2977420"/>
        <a:ext cx="5401976" cy="653084"/>
      </dsp:txXfrm>
    </dsp:sp>
    <dsp:sp modelId="{E8E56DE6-5AFE-4103-BC0C-A4981F3EFF6D}">
      <dsp:nvSpPr>
        <dsp:cNvPr id="0" name=""/>
        <dsp:cNvSpPr/>
      </dsp:nvSpPr>
      <dsp:spPr>
        <a:xfrm>
          <a:off x="0" y="2851623"/>
          <a:ext cx="3058485" cy="904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/>
            <a:t>Пожилые клиенты (60+)</a:t>
          </a:r>
          <a:endParaRPr lang="ru-RU" sz="2300" kern="1200" dirty="0"/>
        </a:p>
      </dsp:txBody>
      <dsp:txXfrm>
        <a:off x="44163" y="2895786"/>
        <a:ext cx="2970159" cy="816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a65db51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a65db51b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64a65db51b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4a65db51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4a65db51b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64a65db51b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641675" y="3989329"/>
            <a:ext cx="7866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1675" y="1585979"/>
            <a:ext cx="760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351950" y="4887275"/>
            <a:ext cx="5577300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Выполнил: </a:t>
            </a:r>
            <a:r>
              <a:rPr lang="ru-RU" sz="18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Харитонов Семён Сергеевич</a:t>
            </a:r>
            <a:endParaRPr sz="1800" b="0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Номер потока: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ОФДА-802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Преподаватель: 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Иванов Александр Евгеньевич</a:t>
            </a:r>
            <a:endParaRPr sz="1800" b="0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66400" y="1971575"/>
            <a:ext cx="10305000" cy="20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ИТОГОВАЯ АТТЕСТАЦИОННАЯ РАБОТА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 дополнительной профессиональной программе</a:t>
            </a:r>
            <a:r>
              <a:rPr lang="ru-RU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повышения квалификации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Data-аналитика: Python и SQL в анализе данных</a:t>
            </a:r>
            <a:endParaRPr sz="3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24528" y="640080"/>
            <a:ext cx="3401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Цели данной работы</a:t>
            </a:r>
            <a:endParaRPr lang="ru-RU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67202" y="1447445"/>
            <a:ext cx="5514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Произвести </a:t>
            </a:r>
            <a:r>
              <a:rPr lang="ru-RU" dirty="0"/>
              <a:t>анализ </a:t>
            </a:r>
            <a:r>
              <a:rPr lang="ru-RU" dirty="0" smtClean="0"/>
              <a:t>данных </a:t>
            </a:r>
            <a:r>
              <a:rPr lang="ru-RU" dirty="0"/>
              <a:t>на языке программирования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463040" y="2739744"/>
            <a:ext cx="5370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Выявить ключевые закономерности </a:t>
            </a:r>
            <a:r>
              <a:rPr lang="ru-RU" dirty="0"/>
              <a:t>в клиентской базе банка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463040" y="4658764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Дать рекомендации </a:t>
            </a:r>
            <a:r>
              <a:rPr lang="ru-RU" dirty="0"/>
              <a:t>для </a:t>
            </a:r>
            <a:r>
              <a:rPr lang="ru-RU" dirty="0" smtClean="0"/>
              <a:t>банка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463040" y="2103793"/>
            <a:ext cx="5801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Произвести предварительную обработку данных если потребуется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463040" y="3395542"/>
            <a:ext cx="4275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Представить визуализацию </a:t>
            </a:r>
            <a:r>
              <a:rPr lang="ru-RU" dirty="0"/>
              <a:t>результатов анализа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463040" y="4027153"/>
            <a:ext cx="4745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Сформулировать </a:t>
            </a:r>
            <a:r>
              <a:rPr lang="ru-RU" dirty="0"/>
              <a:t>основные выводы по итогам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5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/>
        </p:nvGraphicFramePr>
        <p:xfrm>
          <a:off x="838200" y="365125"/>
          <a:ext cx="10515600" cy="5569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103578418"/>
              </p:ext>
            </p:extLst>
          </p:nvPr>
        </p:nvGraphicFramePr>
        <p:xfrm>
          <a:off x="1318947" y="623352"/>
          <a:ext cx="10376229" cy="5420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795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88" y="1674942"/>
            <a:ext cx="4031742" cy="263613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885" y="1674942"/>
            <a:ext cx="3538069" cy="258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20563" y="5543650"/>
            <a:ext cx="681228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Вывод : Клиенты из Германии имеют средний баланс почти в 2 раза выше, чем у Франции и Испании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324588" y="658548"/>
            <a:ext cx="9332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Подсчитаем количество клиентов в каждой стране и найдем </a:t>
            </a:r>
            <a:r>
              <a:rPr lang="ru-RU" sz="2000" dirty="0"/>
              <a:t>средний баланс</a:t>
            </a:r>
          </a:p>
        </p:txBody>
      </p:sp>
    </p:spTree>
    <p:extLst>
      <p:ext uri="{BB962C8B-B14F-4D97-AF65-F5344CB8AC3E}">
        <p14:creationId xmlns:p14="http://schemas.microsoft.com/office/powerpoint/2010/main" val="154867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2225489744"/>
              </p:ext>
            </p:extLst>
          </p:nvPr>
        </p:nvGraphicFramePr>
        <p:xfrm>
          <a:off x="1664208" y="1234440"/>
          <a:ext cx="8495792" cy="375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Группа 8"/>
          <p:cNvGrpSpPr/>
          <p:nvPr/>
        </p:nvGrpSpPr>
        <p:grpSpPr>
          <a:xfrm>
            <a:off x="4738624" y="1337853"/>
            <a:ext cx="5421376" cy="746979"/>
            <a:chOff x="2926079" y="1604664"/>
            <a:chExt cx="5201920" cy="1109910"/>
          </a:xfrm>
        </p:grpSpPr>
        <p:sp>
          <p:nvSpPr>
            <p:cNvPr id="10" name="Прямоугольник с двумя скругленными соседними углами 9"/>
            <p:cNvSpPr/>
            <p:nvPr/>
          </p:nvSpPr>
          <p:spPr>
            <a:xfrm rot="5400000">
              <a:off x="4972084" y="-441341"/>
              <a:ext cx="1109910" cy="520192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/>
            <p:cNvSpPr txBox="1"/>
            <p:nvPr/>
          </p:nvSpPr>
          <p:spPr>
            <a:xfrm>
              <a:off x="2926080" y="1658844"/>
              <a:ext cx="5147739" cy="10015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59055" rIns="118110" bIns="59055" numCol="1" spcCol="1270" anchor="ctr" anchorCtr="0">
              <a:noAutofit/>
            </a:bodyPr>
            <a:lstStyle/>
            <a:p>
              <a:pPr marL="285750" lvl="1" indent="-28575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ru-RU" sz="3100" kern="1200" dirty="0"/>
            </a:p>
            <a:p>
              <a:pPr marL="285750" lvl="1" indent="-28575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ru-RU" sz="3100" kern="1200" dirty="0"/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5519928" y="1376610"/>
            <a:ext cx="2106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/>
              <a:t>51,12%</a:t>
            </a:r>
            <a:endParaRPr lang="ru-RU" sz="3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849133" y="504480"/>
            <a:ext cx="8040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 smtClean="0"/>
              <a:t>Посчитаем, </a:t>
            </a:r>
            <a:r>
              <a:rPr lang="ru-RU" sz="1800" b="1" dirty="0"/>
              <a:t>сколько процентов активных клиентов в каждой группе</a:t>
            </a:r>
            <a:endParaRPr lang="ru-RU" sz="18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96086" y="5423952"/>
            <a:ext cx="880394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Вывод : Пожилые клиенты почти в 1.6 раза активнее других возрастных групп</a:t>
            </a:r>
            <a:r>
              <a:rPr lang="ru-RU" b="1" dirty="0" smtClean="0"/>
              <a:t>.</a:t>
            </a:r>
          </a:p>
          <a:p>
            <a:r>
              <a:rPr lang="ru-RU" b="1" dirty="0" smtClean="0"/>
              <a:t>Для </a:t>
            </a:r>
            <a:r>
              <a:rPr lang="ru-RU" b="1" dirty="0"/>
              <a:t>пожилых клиентов банку рекомендую:</a:t>
            </a:r>
            <a:endParaRPr lang="ru-RU" dirty="0"/>
          </a:p>
          <a:p>
            <a:r>
              <a:rPr lang="ru-RU" dirty="0"/>
              <a:t>Усилить программы лояльности</a:t>
            </a:r>
          </a:p>
          <a:p>
            <a:r>
              <a:rPr lang="ru-RU" dirty="0"/>
              <a:t>Разработать специализированные продукты</a:t>
            </a:r>
          </a:p>
          <a:p>
            <a:r>
              <a:rPr lang="ru-RU" dirty="0"/>
              <a:t>Использовать как эталонную группу для изучения факторов активности</a:t>
            </a:r>
          </a:p>
        </p:txBody>
      </p:sp>
    </p:spTree>
    <p:extLst>
      <p:ext uri="{BB962C8B-B14F-4D97-AF65-F5344CB8AC3E}">
        <p14:creationId xmlns:p14="http://schemas.microsoft.com/office/powerpoint/2010/main" val="370808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3000">
              <a:schemeClr val="accent4">
                <a:lumMod val="40000"/>
                <a:lumOff val="60000"/>
              </a:schemeClr>
            </a:gs>
            <a:gs pos="5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20" y="1635252"/>
            <a:ext cx="3228975" cy="2362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154" y="1635252"/>
            <a:ext cx="2981325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6520" y="540162"/>
            <a:ext cx="9457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 smtClean="0"/>
              <a:t>Узнаем, </a:t>
            </a:r>
            <a:r>
              <a:rPr lang="ru-RU" sz="1800" b="1" dirty="0"/>
              <a:t>у скольких клиентов 1, 2, 3 или 4 </a:t>
            </a:r>
            <a:r>
              <a:rPr lang="ru-RU" sz="1800" b="1" dirty="0" smtClean="0"/>
              <a:t>продукта. Найдем </a:t>
            </a:r>
            <a:r>
              <a:rPr lang="ru-RU" sz="1800" b="1" dirty="0"/>
              <a:t>средний </a:t>
            </a:r>
            <a:r>
              <a:rPr lang="ru-RU" sz="1800" b="1" dirty="0" smtClean="0"/>
              <a:t>баланс.</a:t>
            </a:r>
            <a:endParaRPr lang="ru-RU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1116520" y="4734473"/>
            <a:ext cx="95006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 :</a:t>
            </a:r>
            <a:endParaRPr lang="ru-RU" dirty="0"/>
          </a:p>
          <a:p>
            <a:r>
              <a:rPr lang="ru-RU" dirty="0"/>
              <a:t>Клиенты с 1 продуктом имеют наибольший средний баланс - 98,551.87</a:t>
            </a:r>
          </a:p>
          <a:p>
            <a:r>
              <a:rPr lang="ru-RU" dirty="0"/>
              <a:t>Большинство клиентов используют 1-2 продукта (96% от общей базы)</a:t>
            </a:r>
          </a:p>
          <a:p>
            <a:r>
              <a:rPr lang="ru-RU" b="1" dirty="0"/>
              <a:t>Рекомендую банку :</a:t>
            </a:r>
            <a:endParaRPr lang="ru-RU" dirty="0"/>
          </a:p>
          <a:p>
            <a:r>
              <a:rPr lang="ru-RU" dirty="0"/>
              <a:t>Сфокусироваться на удержании ценных клиентов с 3-4 продуктами</a:t>
            </a:r>
          </a:p>
          <a:p>
            <a:r>
              <a:rPr lang="ru-RU" dirty="0"/>
              <a:t>Разработать стратегию увеличения количества продуктов у клиентов с высоким балансом</a:t>
            </a:r>
          </a:p>
          <a:p>
            <a:r>
              <a:rPr lang="ru-RU" dirty="0"/>
              <a:t>Исследовать причины резкого падения баланса у клиентов с 2 продуктами</a:t>
            </a:r>
          </a:p>
        </p:txBody>
      </p:sp>
    </p:spTree>
    <p:extLst>
      <p:ext uri="{BB962C8B-B14F-4D97-AF65-F5344CB8AC3E}">
        <p14:creationId xmlns:p14="http://schemas.microsoft.com/office/powerpoint/2010/main" val="397434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3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25237" y="306573"/>
            <a:ext cx="4542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</a:t>
            </a:r>
            <a:r>
              <a:rPr lang="ru-RU" sz="3200" dirty="0" smtClean="0"/>
              <a:t>ткуда клиенты?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919" y="1102467"/>
            <a:ext cx="5555461" cy="33911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4600" y="4915899"/>
            <a:ext cx="770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Из диаграммы </a:t>
            </a:r>
            <a:r>
              <a:rPr lang="ru-RU" sz="1800" b="1" dirty="0" smtClean="0"/>
              <a:t>видно, что </a:t>
            </a:r>
            <a:r>
              <a:rPr lang="ru-RU" sz="1800" b="1" dirty="0"/>
              <a:t>более половины клиентов из Франции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751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85">
              <a:schemeClr val="accent6">
                <a:lumMod val="20000"/>
                <a:lumOff val="80000"/>
              </a:schemeClr>
            </a:gs>
            <a:gs pos="0">
              <a:schemeClr val="accent1">
                <a:lumMod val="5000"/>
                <a:lumOff val="95000"/>
              </a:schemeClr>
            </a:gs>
            <a:gs pos="81000">
              <a:srgbClr val="CBDFF1"/>
            </a:gs>
            <a:gs pos="28000">
              <a:schemeClr val="accent6">
                <a:lumMod val="40000"/>
                <a:lumOff val="60000"/>
              </a:schemeClr>
            </a:gs>
            <a:gs pos="5700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979" y="1382120"/>
            <a:ext cx="6530906" cy="3398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0796" y="502920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Р</a:t>
            </a:r>
            <a:r>
              <a:rPr lang="ru-RU" sz="2800" b="1" dirty="0" smtClean="0"/>
              <a:t>аспределение </a:t>
            </a:r>
            <a:r>
              <a:rPr lang="ru-RU" sz="2800" b="1" dirty="0"/>
              <a:t>по возрасту</a:t>
            </a:r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272539" y="5321808"/>
            <a:ext cx="970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Вывод : большее число клиентов в возрасте от 30 до 45 лет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756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91" y="1737213"/>
            <a:ext cx="6424217" cy="3383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8104" y="594360"/>
            <a:ext cx="6117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</a:t>
            </a:r>
            <a:r>
              <a:rPr lang="ru-RU" sz="2400" b="1" dirty="0" smtClean="0"/>
              <a:t>вязь </a:t>
            </a:r>
            <a:r>
              <a:rPr lang="ru-RU" sz="2400" b="1" dirty="0"/>
              <a:t>между возрастом и балансом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118104" y="5648085"/>
            <a:ext cx="702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Видно , что баланс счета больше у клиентов в возрасте от 30 до 45 лет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33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271" y="1645765"/>
            <a:ext cx="6439458" cy="3566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6104" y="576072"/>
            <a:ext cx="7479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</a:t>
            </a:r>
            <a:r>
              <a:rPr lang="ru-RU" sz="2400" b="1" dirty="0" smtClean="0"/>
              <a:t>роцент </a:t>
            </a:r>
            <a:r>
              <a:rPr lang="ru-RU" sz="2400" b="1" dirty="0"/>
              <a:t>активных клиентов в каждой стране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792224" y="5820262"/>
            <a:ext cx="8607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Вывод : во всех </a:t>
            </a:r>
            <a:r>
              <a:rPr lang="ru-RU" sz="1600" b="1" dirty="0" smtClean="0"/>
              <a:t>трех </a:t>
            </a:r>
            <a:r>
              <a:rPr lang="ru-RU" sz="1600" b="1" dirty="0"/>
              <a:t>странах наблюдается очень высокий и примерно равный уровень активности клиентов. Почти каждый второй клиент является активным.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91870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bg1">
                <a:lumMod val="50000"/>
              </a:schemeClr>
            </a:gs>
            <a:gs pos="0">
              <a:schemeClr val="accent1">
                <a:lumMod val="5000"/>
                <a:lumOff val="95000"/>
              </a:schemeClr>
            </a:gs>
            <a:gs pos="81000">
              <a:srgbClr val="CBDFF1"/>
            </a:gs>
            <a:gs pos="38000">
              <a:schemeClr val="accent1">
                <a:lumMod val="60000"/>
                <a:lumOff val="40000"/>
              </a:schemeClr>
            </a:gs>
            <a:gs pos="62000">
              <a:schemeClr val="accent1">
                <a:lumMod val="40000"/>
                <a:lumOff val="60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8"/>
          <a:stretch/>
        </p:blipFill>
        <p:spPr>
          <a:xfrm>
            <a:off x="2891512" y="1702921"/>
            <a:ext cx="6408975" cy="2942231"/>
          </a:xfrm>
          <a:prstGeom prst="rect">
            <a:avLst/>
          </a:prstGeom>
          <a:solidFill>
            <a:srgbClr val="CD966D"/>
          </a:solidFill>
        </p:spPr>
      </p:pic>
      <p:sp>
        <p:nvSpPr>
          <p:cNvPr id="6" name="TextBox 5"/>
          <p:cNvSpPr txBox="1"/>
          <p:nvPr/>
        </p:nvSpPr>
        <p:spPr>
          <a:xfrm>
            <a:off x="2117185" y="667512"/>
            <a:ext cx="7957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</a:t>
            </a:r>
            <a:r>
              <a:rPr lang="ru-RU" sz="2400" b="1" dirty="0" smtClean="0"/>
              <a:t>редний </a:t>
            </a:r>
            <a:r>
              <a:rPr lang="ru-RU" sz="2400" b="1" dirty="0"/>
              <a:t>баланс активных и неактивных клиентов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161288" y="5221225"/>
            <a:ext cx="10195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Вывод : Финансовое состояние практически не влияет на активность клиента. Для банка рекомендую ,для повышения вовлеченности клиентов следует искать другие факторы, не связанные с размером их средств на счете.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2876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80160" y="1444752"/>
            <a:ext cx="89062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Проведенный анализ данных выявил несколько ключевых закономерностей в клиентской базе банка, которые позволяют сформулировать конкретные инициативы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Клиенты старшего возраста являются самым лояльным и активным сегментом. Их активность на 60% выше, чем у других групп. Это ядро клиентской базы, демонстрирующее наивысшую вовлеченность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Клиенты в возрасте 30-45 лет не только формируют наибольшую долю в клиентской базе, но и обладают самыми высокими балансами. Это финансово активное ядро банка с высоким потенциалом долгосрочной ценности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Клиенты из Германии выделяются на общем фоне, имея средний баланс почти в два раза выше, чем у клиентов из Франции и Испании. Это указывает на Германию как на ключевой рынок с точки зрения концентрации капитала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Большинство клиентов используют 1-2 продукта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Уровень клиентской активности равномерно высок, что говорит об общей адекватности сервиса.</a:t>
            </a:r>
          </a:p>
          <a:p>
            <a:r>
              <a:rPr lang="ru-RU" dirty="0"/>
              <a:t>Размер баланса не является драйвером активности. Это означает, что программы стимулирования активности должны быть основаны не на финансовых критериях, а на поведении людей и качестве взаимодействия с банком.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086" y="393192"/>
            <a:ext cx="1752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Вывод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35178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6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7056" y="475488"/>
            <a:ext cx="4535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Рекомендации для банка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2244" y="1495139"/>
            <a:ext cx="83850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Разработать программу премиального обслуживания для сегмента </a:t>
            </a:r>
            <a:r>
              <a:rPr lang="ru-RU" sz="1800" dirty="0" smtClean="0"/>
              <a:t>'Пожилые‘</a:t>
            </a:r>
          </a:p>
          <a:p>
            <a:endParaRPr lang="ru-RU" sz="1800" dirty="0"/>
          </a:p>
          <a:p>
            <a:r>
              <a:rPr lang="ru-RU" sz="1800" dirty="0"/>
              <a:t>Для клиентов 30-45 лет из Германии больше предлагать премиальные инвестиционные продукты, страхование, ипотечные программы</a:t>
            </a:r>
            <a:r>
              <a:rPr lang="ru-RU" sz="1800" dirty="0" smtClean="0"/>
              <a:t>. Так </a:t>
            </a:r>
            <a:r>
              <a:rPr lang="ru-RU" sz="1800" dirty="0"/>
              <a:t>же предложить персонализированные пакетные предложения</a:t>
            </a:r>
            <a:r>
              <a:rPr lang="ru-RU" sz="1800" dirty="0" smtClean="0"/>
              <a:t>.</a:t>
            </a:r>
          </a:p>
          <a:p>
            <a:endParaRPr lang="ru-RU" sz="1800" dirty="0"/>
          </a:p>
          <a:p>
            <a:r>
              <a:rPr lang="ru-RU" sz="1800" dirty="0"/>
              <a:t>Внедрить систему оповещений для менеджеров о клиентах с высоким балансом и которые используют только 1 продукт</a:t>
            </a:r>
            <a:r>
              <a:rPr lang="ru-RU" sz="1800" dirty="0" smtClean="0"/>
              <a:t>. Для </a:t>
            </a:r>
            <a:r>
              <a:rPr lang="ru-RU" sz="1800" dirty="0"/>
              <a:t>навязывания еще больше продуктов</a:t>
            </a:r>
            <a:r>
              <a:rPr lang="ru-RU" sz="1800" dirty="0" smtClean="0"/>
              <a:t>.</a:t>
            </a:r>
          </a:p>
          <a:p>
            <a:endParaRPr lang="ru-RU" sz="1800" dirty="0"/>
          </a:p>
          <a:p>
            <a:r>
              <a:rPr lang="ru-RU" sz="1800" dirty="0"/>
              <a:t>Разработать персонализированные кампании для удержания клиентов с 3-4 продуктами, так как они являются наиболее стабильной и ценной частью базы.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961888"/>
            <a:ext cx="1018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Итак, данные четко указывают на наличие значительного потенциала роста без привлечения новых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83539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2946731" y="2728847"/>
            <a:ext cx="68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ru-RU" sz="45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Благодарю за внимание!</a:t>
            </a:r>
            <a:endParaRPr sz="45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673</Words>
  <Application>Microsoft Office PowerPoint</Application>
  <PresentationFormat>Широкоэкранный</PresentationFormat>
  <Paragraphs>81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 SemiBold</vt:lpstr>
      <vt:lpstr>Montserrat Medium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Семен Харитонов</cp:lastModifiedBy>
  <cp:revision>14</cp:revision>
  <dcterms:modified xsi:type="dcterms:W3CDTF">2025-11-21T15:04:33Z</dcterms:modified>
</cp:coreProperties>
</file>